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688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data/a_clean_modern_glossy_3d_flat_3d_styled_infograp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6492240" y="1592580"/>
            <a:ext cx="5440680" cy="3627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713232" y="1225296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SUPPLY CHAIN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49808" y="248716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DFF9F3"/>
                </a:solidFill>
              </a:rPr>
              <a:t>Client Problem Statement &amp; Glossary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58952" y="307238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FECE6"/>
                </a:solidFill>
              </a:rPr>
              <a:t>Power BI dashboard brief for logistics-sector procurement, supplier performance, and delivery analytics.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4224528"/>
            <a:ext cx="1481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615184" y="422452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325112" y="422452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68096" y="6263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dashboard is needed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A logistics-sector client needs one view of procurement spend, supplier risk, and delivery performance.</a:t>
            </a:r>
            <a:endParaRPr lang="en-US" sz="1300" dirty="0"/>
          </a:p>
        </p:txBody>
      </p:sp>
      <p:pic>
        <p:nvPicPr>
          <p:cNvPr id="8" name="Image 0" descr="/mnt/data/a_clean_modern_glossy_3d_flat_3d_styled_infog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729740"/>
            <a:ext cx="4892040" cy="3261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3232" y="1828800"/>
            <a:ext cx="532180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13232" y="1828800"/>
            <a:ext cx="64008" cy="1024128"/>
          </a:xfrm>
          <a:prstGeom prst="rect">
            <a:avLst/>
          </a:prstGeom>
          <a:solidFill>
            <a:srgbClr val="008D84"/>
          </a:solidFill>
          <a:ln w="12700">
            <a:solidFill>
              <a:srgbClr val="008D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14400" y="1975104"/>
            <a:ext cx="49743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B2A"/>
                </a:solidFill>
              </a:rPr>
              <a:t>Procurement and logistics teams are working with multiple operational tables: purchase orders, supplier master data, quantity logs, shipment records, carrier data, warehouse data, and monthly targets.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3246120"/>
            <a:ext cx="48920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B2B2A"/>
                </a:solidFill>
              </a:rPr>
              <a:t>Management cannot quickly compare actual spend against monthly targets.</a:t>
            </a:r>
            <a:endParaRPr lang="en-US" sz="1700" dirty="0"/>
          </a:p>
          <a:p>
            <a:r>
              <a:rPr lang="en-US" sz="1700" dirty="0">
                <a:solidFill>
                  <a:srgbClr val="1B2B2A"/>
                </a:solidFill>
              </a:rPr>
              <a:t>Supplier performance is split across pricing, quality, delivery, and risk fields.</a:t>
            </a:r>
            <a:endParaRPr lang="en-US" sz="1700" dirty="0"/>
          </a:p>
          <a:p>
            <a:r>
              <a:rPr lang="en-US" sz="1700" dirty="0">
                <a:solidFill>
                  <a:srgbClr val="1B2B2A"/>
                </a:solidFill>
              </a:rPr>
              <a:t>Logistics teams need carrier, transport mode, freight cost, and delay visibility.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13232" y="5532120"/>
            <a:ext cx="5321808" cy="658368"/>
          </a:xfrm>
          <a:prstGeom prst="roundRect">
            <a:avLst>
              <a:gd name="adj" fmla="val 11111"/>
            </a:avLst>
          </a:prstGeom>
          <a:solidFill>
            <a:srgbClr val="E7F6F2"/>
          </a:solidFill>
          <a:ln w="12700">
            <a:solidFill>
              <a:srgbClr val="CFE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96112" y="5687568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Goal: replace scattered checks with a clean 3-page Power BI report that supports executive review, supplier decisions, and logistics improvement.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business problems to solve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The dashboard should answer real operating questions, not just display charts.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71907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96112" y="188366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D84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86537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A"/>
                </a:solidFill>
              </a:rPr>
              <a:t>Spend visibility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16712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Track actual procurement spend and compare it with target spend by month and product category.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71907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46520" y="188366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D84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04888" y="186537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A"/>
                </a:solidFill>
              </a:rPr>
              <a:t>Supplier pricing control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04888" y="216712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Identify suppliers or categories where actual unit prices move unfavorably against contracted rates.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13639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96112" y="330098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D84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28269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A"/>
                </a:solidFill>
              </a:rPr>
              <a:t>Delivery reliability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58444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Measure on-time delivery and isolate delayed shipments by supplier, carrier, region, and transport mode.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13639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46520" y="330098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D84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04888" y="328269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A"/>
                </a:solidFill>
              </a:rPr>
              <a:t>Quality leakage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04888" y="358444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Monitor rejected quantities and supplier quality scores to spot risk before it becomes cost.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3232" y="455371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96112" y="471830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D84"/>
                </a:solidFill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47000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A"/>
                </a:solidFill>
              </a:rPr>
              <a:t>Logistics cost pressure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500176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Analyze freight cost distribution across carriers and transport modes.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4553712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46520" y="471830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D84"/>
                </a:solidFill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04888" y="47000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A"/>
                </a:solidFill>
              </a:rPr>
              <a:t>Executive clarity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04888" y="500176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Create a clean overview for decision-makers with KPIs, trends, and variance drivers.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report must answer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Three pages should tell a complete business story: overview → supplier/procurement → logistics.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" y="1664208"/>
            <a:ext cx="3456432" cy="42062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94944" y="1664208"/>
            <a:ext cx="3456432" cy="91440"/>
          </a:xfrm>
          <a:prstGeom prst="rect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24C"/>
                </a:solidFill>
              </a:rPr>
              <a:t>Page 1: Overview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2313432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97574"/>
                </a:solidFill>
              </a:rPr>
              <a:t>Executive view of spend, orders, delivery health, quality, risk, and delay root cause.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1005840" y="3182112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20" dirty="0">
                <a:solidFill>
                  <a:srgbClr val="1B2B2A"/>
                </a:solidFill>
              </a:rPr>
              <a:t>Actual vs target spend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Spend variance by category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PO status + supplier risk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Delivery delay analysis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517136" y="1664208"/>
            <a:ext cx="3456432" cy="42062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17136" y="1664208"/>
            <a:ext cx="3456432" cy="91440"/>
          </a:xfrm>
          <a:prstGeom prst="rect">
            <a:avLst/>
          </a:prstGeom>
          <a:solidFill>
            <a:srgbClr val="008D84"/>
          </a:solidFill>
          <a:ln w="12700">
            <a:solidFill>
              <a:srgbClr val="008D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36592" y="1901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24C"/>
                </a:solidFill>
              </a:rPr>
              <a:t>Page 2: Supplier &amp; Procurement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6592" y="2313432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97574"/>
                </a:solidFill>
              </a:rPr>
              <a:t>Procurement deep-dive focused on supplier performance, pricing control, and quality.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828032" y="3182112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20" dirty="0">
                <a:solidFill>
                  <a:srgbClr val="1B2B2A"/>
                </a:solidFill>
              </a:rPr>
              <a:t>Supplier performance scatter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PPV by supplier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Supplier detail matrix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Monthly PPV trend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339328" y="1664208"/>
            <a:ext cx="3456432" cy="420624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339328" y="1664208"/>
            <a:ext cx="3456432" cy="91440"/>
          </a:xfrm>
          <a:prstGeom prst="rect">
            <a:avLst/>
          </a:prstGeom>
          <a:solidFill>
            <a:srgbClr val="334B52"/>
          </a:solidFill>
          <a:ln w="12700">
            <a:solidFill>
              <a:srgbClr val="334B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558784" y="1901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24C"/>
                </a:solidFill>
              </a:rPr>
              <a:t>Page 3: Logistics &amp; Delivery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58784" y="2313432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97574"/>
                </a:solidFill>
              </a:rPr>
              <a:t>Logistics deep-dive focused on freight cost, carrier SLA, transit speed, and delay patterns.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650224" y="3182112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20" dirty="0">
                <a:solidFill>
                  <a:srgbClr val="1B2B2A"/>
                </a:solidFill>
              </a:rPr>
              <a:t>Carrier OTD vs SLA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Freight by transport mode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Transit time by carrier</a:t>
            </a:r>
            <a:endParaRPr lang="en-US" sz="1220" dirty="0"/>
          </a:p>
          <a:p>
            <a:r>
              <a:rPr lang="en-US" sz="1220" dirty="0">
                <a:solidFill>
                  <a:srgbClr val="1B2B2A"/>
                </a:solidFill>
              </a:rPr>
              <a:t>Monthly OTD trend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13232" y="5989320"/>
            <a:ext cx="10927080" cy="347472"/>
          </a:xfrm>
          <a:prstGeom prst="roundRect">
            <a:avLst>
              <a:gd name="adj" fmla="val 15789"/>
            </a:avLst>
          </a:prstGeom>
          <a:solidFill>
            <a:srgbClr val="E7F6F2"/>
          </a:solidFill>
          <a:ln w="12700">
            <a:solidFill>
              <a:srgbClr val="CFE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14400" y="6071616"/>
            <a:ext cx="10469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524C"/>
                </a:solidFill>
              </a:rPr>
              <a:t>Design principle: keep the model analytical, but keep the report explainable for beginner-to-intermediate viewers.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KPI dictionary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These are the business metrics used across the three dashboard pages.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" y="1572768"/>
            <a:ext cx="10899648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016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94944" y="1572768"/>
            <a:ext cx="10899648" cy="420624"/>
          </a:xfrm>
          <a:prstGeom prst="rect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1709928"/>
            <a:ext cx="1984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KPI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53512" y="1709928"/>
            <a:ext cx="4480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Core logic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16952" y="1709928"/>
            <a:ext cx="3904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Why it matters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" y="1993392"/>
            <a:ext cx="10899648" cy="484632"/>
          </a:xfrm>
          <a:prstGeom prst="rect">
            <a:avLst/>
          </a:prstGeom>
          <a:solidFill>
            <a:srgbClr val="F2F7F5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4672" y="2139696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Actual Spend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2953512" y="212140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Actual Unit Price × Ordered Qty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7616952" y="2121408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Procurement cost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94944" y="2478024"/>
            <a:ext cx="10899648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04672" y="2624328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Total POs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2953512" y="260604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Distinct PO_ID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7616952" y="2606040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Order volume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94944" y="2962656"/>
            <a:ext cx="10899648" cy="484632"/>
          </a:xfrm>
          <a:prstGeom prst="rect">
            <a:avLst/>
          </a:prstGeom>
          <a:solidFill>
            <a:srgbClr val="F2F7F5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04672" y="3108960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OTD %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2953512" y="309067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On-time delivered ÷ delivered shipments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7616952" y="3090672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Delivery reliability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94944" y="3447288"/>
            <a:ext cx="10899648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04672" y="3593592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Avg Lead Time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2953512" y="357530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Order date → actual delivery date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7616952" y="3575304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End-to-end procurement speed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94944" y="3931920"/>
            <a:ext cx="10899648" cy="484632"/>
          </a:xfrm>
          <a:prstGeom prst="rect">
            <a:avLst/>
          </a:prstGeom>
          <a:solidFill>
            <a:srgbClr val="F2F7F5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04672" y="4078224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Rejection Rate %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2953512" y="405993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Rejected Qty ÷ Received Qty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7616952" y="4059936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Quality leakage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694944" y="4416552"/>
            <a:ext cx="10899648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04672" y="4562856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PPV %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2953512" y="454456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(Actual Spend − Contract Spend) ÷ Contract Spend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7616952" y="4544568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Pricing variance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694944" y="4901184"/>
            <a:ext cx="10899648" cy="484632"/>
          </a:xfrm>
          <a:prstGeom prst="rect">
            <a:avLst/>
          </a:prstGeom>
          <a:solidFill>
            <a:srgbClr val="F2F7F5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04672" y="5047488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Freight Cost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2953512" y="502920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Sum Freight_Cost_INR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7616952" y="5029200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Logistics cost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694944" y="5385816"/>
            <a:ext cx="10899648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04672" y="5532120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0524C"/>
                </a:solidFill>
              </a:rPr>
              <a:t>SLA Gap</a:t>
            </a:r>
            <a:endParaRPr lang="en-US" sz="1040" dirty="0"/>
          </a:p>
        </p:txBody>
      </p:sp>
      <p:sp>
        <p:nvSpPr>
          <p:cNvPr id="43" name="Text 41"/>
          <p:cNvSpPr/>
          <p:nvPr/>
        </p:nvSpPr>
        <p:spPr>
          <a:xfrm>
            <a:off x="2953512" y="551383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B2B2A"/>
                </a:solidFill>
              </a:rPr>
              <a:t>Actual OTD % − Carrier SLA Target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616952" y="5513832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97574"/>
                </a:solidFill>
              </a:rPr>
              <a:t>Carrier performance vs commitment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GLOSSARY 1/3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Procurement glossary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Use these definitions while explaining the business problem in the tutorial.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536192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95528" y="163677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Purchase Order (PO)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54096" y="1618488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Formal order placed with a supplier to buy goods or services.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85800" y="2157984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5528" y="225856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PO Line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54096" y="2240280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Individual product or item line inside a purchase order. One PO can contain multiple PO lines.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85800" y="2779776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5528" y="288036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Actual Spend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54096" y="2862072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Money spent based on actual unit price and ordered quantity.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85800" y="3401568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95528" y="350215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Target Spend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54096" y="3483864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Planned or budgeted procurement spend for a month and product category.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85800" y="4023360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95528" y="4123944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Spend Variance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54096" y="4105656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Target Spend − Actual Spend. Positive means under target; negative means overspend.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95528" y="474573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PPV 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54096" y="4727448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Purchase Price Variance: actual purchase cost compared with contracted cost.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85800" y="5266944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95528" y="536752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Rejection Rate %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054096" y="5349240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Rejected quantity divided by received quantity; a quality-performance metric.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49808" y="5989320"/>
            <a:ext cx="1071676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49808" y="5989320"/>
            <a:ext cx="64008" cy="438912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50976" y="6135624"/>
            <a:ext cx="103692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B2A"/>
                </a:solidFill>
              </a:rPr>
              <a:t>Recording note: avoid saying “profit” here. This dashboard tracks procurement cost control, not sales revenue or margin.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GLOSSARY 2/3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Supplier glossary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These terms explain how the supplier performance page is read.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536192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95528" y="163677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Supplier Rating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54096" y="1618488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Overall supplier assessment score, typically based on multiple supplier-performance dimensions.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85800" y="2157984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5528" y="225856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Quality Score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54096" y="2240280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Supplier quality score, useful for monitoring defects, rejections, or quality risk.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85800" y="2779776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5528" y="288036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Delivery Score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54096" y="2862072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Supplier delivery-performance score, useful for reliability comparison.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85800" y="3401568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95528" y="350215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Risk Level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54096" y="3483864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Supplier risk segmentation such as Low, Medium, or High, based on operational and financial indicators.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85800" y="4023360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95528" y="4123944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Contract Unit Price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54096" y="4105656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Agreed price per unit according to contract or supplier agreement.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95528" y="474573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Actual Unit Price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54096" y="4727448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Price actually paid per unit in the procurement transaction.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85800" y="5266944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95528" y="536752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Supplier Exposure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054096" y="5349240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Spend amount tied to a supplier; high spend with weak performance creates higher business risk.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GLOSSARY 3/3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Logistics glossary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These definitions support the logistics and delivery performance page.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536192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95528" y="163677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Carrier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54096" y="1618488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Logistics partner responsible for moving goods from dispatch to delivery.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85800" y="2157984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5528" y="225856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Transport Mode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54096" y="2240280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Shipment mode such as Road, Rail, or Air.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85800" y="2779776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5528" y="288036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Freight Cost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54096" y="2862072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Transportation cost charged for moving goods.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85800" y="3401568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95528" y="350215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Transit Time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54096" y="3483864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Number of days from dispatch date to actual delivery date.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85800" y="4023360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95528" y="4123944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Promised Date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54096" y="4105656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Expected delivery date committed for the shipment.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2F7F5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95528" y="474573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On-Time Delivery 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54096" y="4727448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Delivered shipments completed on or before promised date divided by total delivered shipments.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85800" y="5266944"/>
            <a:ext cx="10863072" cy="557784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635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95528" y="536752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524C"/>
                </a:solidFill>
              </a:rPr>
              <a:t>SLA Target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054096" y="5349240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2B2A"/>
                </a:solidFill>
              </a:rPr>
              <a:t>Service-level target agreed with the carrier for on-time delivery performance.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0352" y="155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 + REPORTING RULES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55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97574"/>
                </a:solidFill>
              </a:rPr>
              <a:t>Supply Chain Analytics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2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decisions to explain simply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74"/>
                </a:solidFill>
              </a:rPr>
              <a:t>Keep this section short in the video; the goal is clarity, not theory overload.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9808" y="1581912"/>
            <a:ext cx="310896" cy="310896"/>
          </a:xfrm>
          <a:prstGeom prst="ellipse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49808" y="164134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79576" y="15544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</a:rPr>
              <a:t>Galaxy schema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79576" y="18105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The model uses two facts: actual procurement at PO-line grain and targets at category-month grain.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9808" y="2478024"/>
            <a:ext cx="310896" cy="310896"/>
          </a:xfrm>
          <a:prstGeom prst="ellipse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49808" y="25374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79576" y="24505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</a:rPr>
              <a:t>Conformed dimensions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79576" y="27066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Date and Category filter both facts, so actual vs target comparisons work correctly.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9808" y="3374136"/>
            <a:ext cx="310896" cy="310896"/>
          </a:xfrm>
          <a:prstGeom prst="ellipse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49808" y="343357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79576" y="33467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</a:rPr>
              <a:t>Do not merge targets into PO rows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79576" y="36027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Monthly targets would repeat across transactions and inflate target totals.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49808" y="4270248"/>
            <a:ext cx="310896" cy="310896"/>
          </a:xfrm>
          <a:prstGeom prst="ellipse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49808" y="43296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79576" y="42428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</a:rPr>
              <a:t>Use inactive date relationship only when needed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179576" y="4498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Monthly OTD trend uses delivery date with USERELATIONSHIP for correct delivery-month analysis.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49808" y="5166360"/>
            <a:ext cx="310896" cy="310896"/>
          </a:xfrm>
          <a:prstGeom prst="ellipse">
            <a:avLst/>
          </a:prstGeom>
          <a:solidFill>
            <a:srgbClr val="00524C"/>
          </a:solidFill>
          <a:ln w="12700">
            <a:solidFill>
              <a:srgbClr val="0052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49808" y="522579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79576" y="51389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B2A"/>
                </a:solidFill>
              </a:rPr>
              <a:t>Keep visuals business-first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79576" y="5394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7574"/>
                </a:solidFill>
              </a:rPr>
              <a:t>Choose chart types based on the question and actual data distribution, not decoration.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49808" y="5742432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749808" y="5742432"/>
            <a:ext cx="64008" cy="566928"/>
          </a:xfrm>
          <a:prstGeom prst="rect">
            <a:avLst/>
          </a:prstGeom>
          <a:solidFill>
            <a:srgbClr val="008D84"/>
          </a:solidFill>
          <a:ln w="12700">
            <a:solidFill>
              <a:srgbClr val="008D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950976" y="5888736"/>
            <a:ext cx="103967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B2A"/>
                </a:solidFill>
              </a:rPr>
              <a:t>Final message for clients: the report turns raw procurement and logistics records into decision-ready insights for cost control, supplier management, and delivery improvement.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48640" y="6464808"/>
            <a:ext cx="11064240" cy="0"/>
          </a:xfrm>
          <a:prstGeom prst="line">
            <a:avLst/>
          </a:prstGeom>
          <a:noFill/>
          <a:ln w="9525">
            <a:solidFill>
              <a:srgbClr val="D7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97574"/>
                </a:solidFill>
              </a:rPr>
              <a:t>Client Problem Statement &amp; Glossary</a:t>
            </a:r>
            <a:endParaRPr lang="en-US" sz="7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A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1146</Words>
  <Application>Microsoft Office PowerPoint</Application>
  <PresentationFormat>Widescreen</PresentationFormat>
  <Paragraphs>190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Awesome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Analytics | Client Problem Statement &amp; Glossary</dc:title>
  <dc:subject>Supply Chain Analytics Dashboard - Client Problem Statement and Glossary</dc:subject>
  <dc:creator>Awesome Analytics</dc:creator>
  <cp:lastModifiedBy>MOHAMMAD ISMAIL JABIVULLA SHAIK</cp:lastModifiedBy>
  <cp:revision>4</cp:revision>
  <dcterms:created xsi:type="dcterms:W3CDTF">2026-08-12T06:25:30Z</dcterms:created>
  <dcterms:modified xsi:type="dcterms:W3CDTF">2026-10-23T13:25:09Z</dcterms:modified>
</cp:coreProperties>
</file>